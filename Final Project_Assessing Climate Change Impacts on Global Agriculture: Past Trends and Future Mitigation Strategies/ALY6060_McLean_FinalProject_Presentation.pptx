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B8F77-3F85-2B49-A058-5EAB9E440D66}" v="29" dt="2024-10-25T23:31:13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3ACFE-1903-4A48-AA68-15DF0F02D8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D533724-CA11-476E-9F96-F75F79B73127}">
      <dgm:prSet/>
      <dgm:spPr/>
      <dgm:t>
        <a:bodyPr/>
        <a:lstStyle/>
        <a:p>
          <a:r>
            <a:rPr lang="en-US" b="1"/>
            <a:t>Invest in Adaptation Strategies</a:t>
          </a:r>
          <a:r>
            <a:rPr lang="en-US"/>
            <a:t>: Prioritize research and funding for drought-resistant crops and sustainable farming practices.</a:t>
          </a:r>
        </a:p>
      </dgm:t>
    </dgm:pt>
    <dgm:pt modelId="{A713AFFA-9657-4E53-B0EA-86EEB637C541}" type="parTrans" cxnId="{C3CBC58F-96BA-4AB8-BF76-BA503AFC639F}">
      <dgm:prSet/>
      <dgm:spPr/>
      <dgm:t>
        <a:bodyPr/>
        <a:lstStyle/>
        <a:p>
          <a:endParaRPr lang="en-US"/>
        </a:p>
      </dgm:t>
    </dgm:pt>
    <dgm:pt modelId="{31D6E144-B381-4CCE-A5F8-F42BF7CA2302}" type="sibTrans" cxnId="{C3CBC58F-96BA-4AB8-BF76-BA503AFC639F}">
      <dgm:prSet/>
      <dgm:spPr/>
      <dgm:t>
        <a:bodyPr/>
        <a:lstStyle/>
        <a:p>
          <a:endParaRPr lang="en-US"/>
        </a:p>
      </dgm:t>
    </dgm:pt>
    <dgm:pt modelId="{62A4DB45-422B-4504-8B90-960AE956FD28}">
      <dgm:prSet/>
      <dgm:spPr/>
      <dgm:t>
        <a:bodyPr/>
        <a:lstStyle/>
        <a:p>
          <a:r>
            <a:rPr lang="en-US" b="1"/>
            <a:t>Strengthen Water Management</a:t>
          </a:r>
          <a:r>
            <a:rPr lang="en-US"/>
            <a:t>: Implement comprehensive water conservation initiatives and regulations for efficient agricultural water use.</a:t>
          </a:r>
        </a:p>
      </dgm:t>
    </dgm:pt>
    <dgm:pt modelId="{2454FF60-D5FD-4CC9-9BB8-44FCA1D2EE5C}" type="parTrans" cxnId="{D65DB5A1-EFFE-45C4-A26B-0FCAC82348FB}">
      <dgm:prSet/>
      <dgm:spPr/>
      <dgm:t>
        <a:bodyPr/>
        <a:lstStyle/>
        <a:p>
          <a:endParaRPr lang="en-US"/>
        </a:p>
      </dgm:t>
    </dgm:pt>
    <dgm:pt modelId="{497171B6-0228-4CE3-81DD-588B3CF3D0E3}" type="sibTrans" cxnId="{D65DB5A1-EFFE-45C4-A26B-0FCAC82348FB}">
      <dgm:prSet/>
      <dgm:spPr/>
      <dgm:t>
        <a:bodyPr/>
        <a:lstStyle/>
        <a:p>
          <a:endParaRPr lang="en-US"/>
        </a:p>
      </dgm:t>
    </dgm:pt>
    <dgm:pt modelId="{D6D203F0-9712-44C1-9702-A7A04443B1F0}">
      <dgm:prSet/>
      <dgm:spPr/>
      <dgm:t>
        <a:bodyPr/>
        <a:lstStyle/>
        <a:p>
          <a:r>
            <a:rPr lang="en-US" b="1"/>
            <a:t>Monitor Extreme Weather</a:t>
          </a:r>
          <a:r>
            <a:rPr lang="en-US"/>
            <a:t>: Establish robust monitoring systems and contingency plans to support farmers during adverse weather events.</a:t>
          </a:r>
        </a:p>
      </dgm:t>
    </dgm:pt>
    <dgm:pt modelId="{E503D0D3-D393-4BF7-97F5-C5B4389629D2}" type="parTrans" cxnId="{CDA532C7-5105-47DA-83D8-314FF517F4B2}">
      <dgm:prSet/>
      <dgm:spPr/>
      <dgm:t>
        <a:bodyPr/>
        <a:lstStyle/>
        <a:p>
          <a:endParaRPr lang="en-US"/>
        </a:p>
      </dgm:t>
    </dgm:pt>
    <dgm:pt modelId="{6F9BC9F7-2253-4A9C-B190-B8678E20A11D}" type="sibTrans" cxnId="{CDA532C7-5105-47DA-83D8-314FF517F4B2}">
      <dgm:prSet/>
      <dgm:spPr/>
      <dgm:t>
        <a:bodyPr/>
        <a:lstStyle/>
        <a:p>
          <a:endParaRPr lang="en-US"/>
        </a:p>
      </dgm:t>
    </dgm:pt>
    <dgm:pt modelId="{E8341C6B-ED71-42AA-A30D-3000CD63DDE2}" type="pres">
      <dgm:prSet presAssocID="{5453ACFE-1903-4A48-AA68-15DF0F02D819}" presName="root" presStyleCnt="0">
        <dgm:presLayoutVars>
          <dgm:dir/>
          <dgm:resizeHandles val="exact"/>
        </dgm:presLayoutVars>
      </dgm:prSet>
      <dgm:spPr/>
    </dgm:pt>
    <dgm:pt modelId="{0911B1D7-65FA-4707-B803-1374A6207C78}" type="pres">
      <dgm:prSet presAssocID="{CD533724-CA11-476E-9F96-F75F79B73127}" presName="compNode" presStyleCnt="0"/>
      <dgm:spPr/>
    </dgm:pt>
    <dgm:pt modelId="{990E1F64-E842-4304-88ED-7F36B081AC65}" type="pres">
      <dgm:prSet presAssocID="{CD533724-CA11-476E-9F96-F75F79B73127}" presName="bgRect" presStyleLbl="bgShp" presStyleIdx="0" presStyleCnt="3"/>
      <dgm:spPr/>
    </dgm:pt>
    <dgm:pt modelId="{3C9097A1-678C-420B-8160-AC139F2E58F6}" type="pres">
      <dgm:prSet presAssocID="{CD533724-CA11-476E-9F96-F75F79B731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E0620AF-2DA0-4621-897E-2CDE94D32603}" type="pres">
      <dgm:prSet presAssocID="{CD533724-CA11-476E-9F96-F75F79B73127}" presName="spaceRect" presStyleCnt="0"/>
      <dgm:spPr/>
    </dgm:pt>
    <dgm:pt modelId="{1A2FCD84-E69F-4263-B838-0D1F17C6D860}" type="pres">
      <dgm:prSet presAssocID="{CD533724-CA11-476E-9F96-F75F79B73127}" presName="parTx" presStyleLbl="revTx" presStyleIdx="0" presStyleCnt="3">
        <dgm:presLayoutVars>
          <dgm:chMax val="0"/>
          <dgm:chPref val="0"/>
        </dgm:presLayoutVars>
      </dgm:prSet>
      <dgm:spPr/>
    </dgm:pt>
    <dgm:pt modelId="{39CD1501-E568-4945-87D1-3346F5EFB258}" type="pres">
      <dgm:prSet presAssocID="{31D6E144-B381-4CCE-A5F8-F42BF7CA2302}" presName="sibTrans" presStyleCnt="0"/>
      <dgm:spPr/>
    </dgm:pt>
    <dgm:pt modelId="{4C02781E-5B52-4E99-B903-F2034746EE63}" type="pres">
      <dgm:prSet presAssocID="{62A4DB45-422B-4504-8B90-960AE956FD28}" presName="compNode" presStyleCnt="0"/>
      <dgm:spPr/>
    </dgm:pt>
    <dgm:pt modelId="{7382FFE0-6967-42AC-8B98-97B5370E098B}" type="pres">
      <dgm:prSet presAssocID="{62A4DB45-422B-4504-8B90-960AE956FD28}" presName="bgRect" presStyleLbl="bgShp" presStyleIdx="1" presStyleCnt="3"/>
      <dgm:spPr/>
    </dgm:pt>
    <dgm:pt modelId="{6E970A4F-CADC-4D14-BFB4-C4593157AAD4}" type="pres">
      <dgm:prSet presAssocID="{62A4DB45-422B-4504-8B90-960AE956FD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1CA8C0B9-B961-4031-9FE6-DCD934F19EA7}" type="pres">
      <dgm:prSet presAssocID="{62A4DB45-422B-4504-8B90-960AE956FD28}" presName="spaceRect" presStyleCnt="0"/>
      <dgm:spPr/>
    </dgm:pt>
    <dgm:pt modelId="{0DB243D2-86CC-4C90-86F3-6707234F86AE}" type="pres">
      <dgm:prSet presAssocID="{62A4DB45-422B-4504-8B90-960AE956FD28}" presName="parTx" presStyleLbl="revTx" presStyleIdx="1" presStyleCnt="3">
        <dgm:presLayoutVars>
          <dgm:chMax val="0"/>
          <dgm:chPref val="0"/>
        </dgm:presLayoutVars>
      </dgm:prSet>
      <dgm:spPr/>
    </dgm:pt>
    <dgm:pt modelId="{C586B0D6-5CE7-4E81-B323-00E50F0E776F}" type="pres">
      <dgm:prSet presAssocID="{497171B6-0228-4CE3-81DD-588B3CF3D0E3}" presName="sibTrans" presStyleCnt="0"/>
      <dgm:spPr/>
    </dgm:pt>
    <dgm:pt modelId="{A39A6798-A4CA-4C97-8EAA-F3FCFCB8501E}" type="pres">
      <dgm:prSet presAssocID="{D6D203F0-9712-44C1-9702-A7A04443B1F0}" presName="compNode" presStyleCnt="0"/>
      <dgm:spPr/>
    </dgm:pt>
    <dgm:pt modelId="{7B14FA3A-0D76-41D8-BD9C-71434E157459}" type="pres">
      <dgm:prSet presAssocID="{D6D203F0-9712-44C1-9702-A7A04443B1F0}" presName="bgRect" presStyleLbl="bgShp" presStyleIdx="2" presStyleCnt="3"/>
      <dgm:spPr/>
    </dgm:pt>
    <dgm:pt modelId="{CF2CE098-41CA-42CC-BF2D-EC9937141367}" type="pres">
      <dgm:prSet presAssocID="{D6D203F0-9712-44C1-9702-A7A04443B1F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AD81976B-ABCE-4CB2-BCCE-A4AB0C7556BE}" type="pres">
      <dgm:prSet presAssocID="{D6D203F0-9712-44C1-9702-A7A04443B1F0}" presName="spaceRect" presStyleCnt="0"/>
      <dgm:spPr/>
    </dgm:pt>
    <dgm:pt modelId="{9F1F7C27-D915-445E-90D9-6BD8FFB76A57}" type="pres">
      <dgm:prSet presAssocID="{D6D203F0-9712-44C1-9702-A7A04443B1F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D87FC33-43B5-48E6-8078-4528223D62B3}" type="presOf" srcId="{D6D203F0-9712-44C1-9702-A7A04443B1F0}" destId="{9F1F7C27-D915-445E-90D9-6BD8FFB76A57}" srcOrd="0" destOrd="0" presId="urn:microsoft.com/office/officeart/2018/2/layout/IconVerticalSolidList"/>
    <dgm:cxn modelId="{018BF26B-2D77-4081-9439-B6E8D0B85794}" type="presOf" srcId="{5453ACFE-1903-4A48-AA68-15DF0F02D819}" destId="{E8341C6B-ED71-42AA-A30D-3000CD63DDE2}" srcOrd="0" destOrd="0" presId="urn:microsoft.com/office/officeart/2018/2/layout/IconVerticalSolidList"/>
    <dgm:cxn modelId="{A5C2B986-1C3E-4DD7-BCC3-7110AF0C139B}" type="presOf" srcId="{62A4DB45-422B-4504-8B90-960AE956FD28}" destId="{0DB243D2-86CC-4C90-86F3-6707234F86AE}" srcOrd="0" destOrd="0" presId="urn:microsoft.com/office/officeart/2018/2/layout/IconVerticalSolidList"/>
    <dgm:cxn modelId="{C3CBC58F-96BA-4AB8-BF76-BA503AFC639F}" srcId="{5453ACFE-1903-4A48-AA68-15DF0F02D819}" destId="{CD533724-CA11-476E-9F96-F75F79B73127}" srcOrd="0" destOrd="0" parTransId="{A713AFFA-9657-4E53-B0EA-86EEB637C541}" sibTransId="{31D6E144-B381-4CCE-A5F8-F42BF7CA2302}"/>
    <dgm:cxn modelId="{D65DB5A1-EFFE-45C4-A26B-0FCAC82348FB}" srcId="{5453ACFE-1903-4A48-AA68-15DF0F02D819}" destId="{62A4DB45-422B-4504-8B90-960AE956FD28}" srcOrd="1" destOrd="0" parTransId="{2454FF60-D5FD-4CC9-9BB8-44FCA1D2EE5C}" sibTransId="{497171B6-0228-4CE3-81DD-588B3CF3D0E3}"/>
    <dgm:cxn modelId="{CDA532C7-5105-47DA-83D8-314FF517F4B2}" srcId="{5453ACFE-1903-4A48-AA68-15DF0F02D819}" destId="{D6D203F0-9712-44C1-9702-A7A04443B1F0}" srcOrd="2" destOrd="0" parTransId="{E503D0D3-D393-4BF7-97F5-C5B4389629D2}" sibTransId="{6F9BC9F7-2253-4A9C-B190-B8678E20A11D}"/>
    <dgm:cxn modelId="{C07979F4-09CE-493F-9CD7-0DCB60B31132}" type="presOf" srcId="{CD533724-CA11-476E-9F96-F75F79B73127}" destId="{1A2FCD84-E69F-4263-B838-0D1F17C6D860}" srcOrd="0" destOrd="0" presId="urn:microsoft.com/office/officeart/2018/2/layout/IconVerticalSolidList"/>
    <dgm:cxn modelId="{475984DA-BA24-431A-BF82-23D61977FD5D}" type="presParOf" srcId="{E8341C6B-ED71-42AA-A30D-3000CD63DDE2}" destId="{0911B1D7-65FA-4707-B803-1374A6207C78}" srcOrd="0" destOrd="0" presId="urn:microsoft.com/office/officeart/2018/2/layout/IconVerticalSolidList"/>
    <dgm:cxn modelId="{924A0F49-6F8D-484B-90D5-6228BBB7438E}" type="presParOf" srcId="{0911B1D7-65FA-4707-B803-1374A6207C78}" destId="{990E1F64-E842-4304-88ED-7F36B081AC65}" srcOrd="0" destOrd="0" presId="urn:microsoft.com/office/officeart/2018/2/layout/IconVerticalSolidList"/>
    <dgm:cxn modelId="{B822E177-5EEC-40F8-A9AB-ABB69AD7DC1F}" type="presParOf" srcId="{0911B1D7-65FA-4707-B803-1374A6207C78}" destId="{3C9097A1-678C-420B-8160-AC139F2E58F6}" srcOrd="1" destOrd="0" presId="urn:microsoft.com/office/officeart/2018/2/layout/IconVerticalSolidList"/>
    <dgm:cxn modelId="{94A5FC12-D0E7-4386-8BB5-5001F86CB89D}" type="presParOf" srcId="{0911B1D7-65FA-4707-B803-1374A6207C78}" destId="{5E0620AF-2DA0-4621-897E-2CDE94D32603}" srcOrd="2" destOrd="0" presId="urn:microsoft.com/office/officeart/2018/2/layout/IconVerticalSolidList"/>
    <dgm:cxn modelId="{377C2C9C-485C-42F9-9E8C-05AF0FB4EDB4}" type="presParOf" srcId="{0911B1D7-65FA-4707-B803-1374A6207C78}" destId="{1A2FCD84-E69F-4263-B838-0D1F17C6D860}" srcOrd="3" destOrd="0" presId="urn:microsoft.com/office/officeart/2018/2/layout/IconVerticalSolidList"/>
    <dgm:cxn modelId="{5A784BE1-A6FB-4002-955E-18E0BECCAD20}" type="presParOf" srcId="{E8341C6B-ED71-42AA-A30D-3000CD63DDE2}" destId="{39CD1501-E568-4945-87D1-3346F5EFB258}" srcOrd="1" destOrd="0" presId="urn:microsoft.com/office/officeart/2018/2/layout/IconVerticalSolidList"/>
    <dgm:cxn modelId="{FFC63E41-E721-41FB-9595-A5FFF7B6F179}" type="presParOf" srcId="{E8341C6B-ED71-42AA-A30D-3000CD63DDE2}" destId="{4C02781E-5B52-4E99-B903-F2034746EE63}" srcOrd="2" destOrd="0" presId="urn:microsoft.com/office/officeart/2018/2/layout/IconVerticalSolidList"/>
    <dgm:cxn modelId="{66BBE461-7913-468C-8365-A8E6220B6D4F}" type="presParOf" srcId="{4C02781E-5B52-4E99-B903-F2034746EE63}" destId="{7382FFE0-6967-42AC-8B98-97B5370E098B}" srcOrd="0" destOrd="0" presId="urn:microsoft.com/office/officeart/2018/2/layout/IconVerticalSolidList"/>
    <dgm:cxn modelId="{08F8C9AA-606C-4778-BD78-A5AFA805CC5B}" type="presParOf" srcId="{4C02781E-5B52-4E99-B903-F2034746EE63}" destId="{6E970A4F-CADC-4D14-BFB4-C4593157AAD4}" srcOrd="1" destOrd="0" presId="urn:microsoft.com/office/officeart/2018/2/layout/IconVerticalSolidList"/>
    <dgm:cxn modelId="{192D357D-8A10-4026-9E9F-7B915620FB6B}" type="presParOf" srcId="{4C02781E-5B52-4E99-B903-F2034746EE63}" destId="{1CA8C0B9-B961-4031-9FE6-DCD934F19EA7}" srcOrd="2" destOrd="0" presId="urn:microsoft.com/office/officeart/2018/2/layout/IconVerticalSolidList"/>
    <dgm:cxn modelId="{97C6CF96-4352-4551-9622-19BAB7011AA8}" type="presParOf" srcId="{4C02781E-5B52-4E99-B903-F2034746EE63}" destId="{0DB243D2-86CC-4C90-86F3-6707234F86AE}" srcOrd="3" destOrd="0" presId="urn:microsoft.com/office/officeart/2018/2/layout/IconVerticalSolidList"/>
    <dgm:cxn modelId="{958BB129-D4D8-4C34-A52E-3C321048B40C}" type="presParOf" srcId="{E8341C6B-ED71-42AA-A30D-3000CD63DDE2}" destId="{C586B0D6-5CE7-4E81-B323-00E50F0E776F}" srcOrd="3" destOrd="0" presId="urn:microsoft.com/office/officeart/2018/2/layout/IconVerticalSolidList"/>
    <dgm:cxn modelId="{B7057F5E-26CA-4BC7-B2D3-AF0CFD7CEA30}" type="presParOf" srcId="{E8341C6B-ED71-42AA-A30D-3000CD63DDE2}" destId="{A39A6798-A4CA-4C97-8EAA-F3FCFCB8501E}" srcOrd="4" destOrd="0" presId="urn:microsoft.com/office/officeart/2018/2/layout/IconVerticalSolidList"/>
    <dgm:cxn modelId="{CE9D9277-7AD7-4A47-9FCD-1402BB0EF332}" type="presParOf" srcId="{A39A6798-A4CA-4C97-8EAA-F3FCFCB8501E}" destId="{7B14FA3A-0D76-41D8-BD9C-71434E157459}" srcOrd="0" destOrd="0" presId="urn:microsoft.com/office/officeart/2018/2/layout/IconVerticalSolidList"/>
    <dgm:cxn modelId="{A061247E-B377-4950-B201-E403E764017E}" type="presParOf" srcId="{A39A6798-A4CA-4C97-8EAA-F3FCFCB8501E}" destId="{CF2CE098-41CA-42CC-BF2D-EC9937141367}" srcOrd="1" destOrd="0" presId="urn:microsoft.com/office/officeart/2018/2/layout/IconVerticalSolidList"/>
    <dgm:cxn modelId="{CE6DDAED-7C01-4BE7-AEA8-957C2F203F33}" type="presParOf" srcId="{A39A6798-A4CA-4C97-8EAA-F3FCFCB8501E}" destId="{AD81976B-ABCE-4CB2-BCCE-A4AB0C7556BE}" srcOrd="2" destOrd="0" presId="urn:microsoft.com/office/officeart/2018/2/layout/IconVerticalSolidList"/>
    <dgm:cxn modelId="{3E5E7C9D-0BBC-491A-95B0-F0025CBE3DBD}" type="presParOf" srcId="{A39A6798-A4CA-4C97-8EAA-F3FCFCB8501E}" destId="{9F1F7C27-D915-445E-90D9-6BD8FFB76A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0E1F64-E842-4304-88ED-7F36B081AC65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9097A1-678C-420B-8160-AC139F2E58F6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FCD84-E69F-4263-B838-0D1F17C6D86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Invest in Adaptation Strategies</a:t>
          </a:r>
          <a:r>
            <a:rPr lang="en-US" sz="2300" kern="1200"/>
            <a:t>: Prioritize research and funding for drought-resistant crops and sustainable farming practices.</a:t>
          </a:r>
        </a:p>
      </dsp:txBody>
      <dsp:txXfrm>
        <a:off x="1437631" y="531"/>
        <a:ext cx="9077968" cy="1244702"/>
      </dsp:txXfrm>
    </dsp:sp>
    <dsp:sp modelId="{7382FFE0-6967-42AC-8B98-97B5370E098B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70A4F-CADC-4D14-BFB4-C4593157AAD4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243D2-86CC-4C90-86F3-6707234F86AE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Strengthen Water Management</a:t>
          </a:r>
          <a:r>
            <a:rPr lang="en-US" sz="2300" kern="1200"/>
            <a:t>: Implement comprehensive water conservation initiatives and regulations for efficient agricultural water use.</a:t>
          </a:r>
        </a:p>
      </dsp:txBody>
      <dsp:txXfrm>
        <a:off x="1437631" y="1556410"/>
        <a:ext cx="9077968" cy="1244702"/>
      </dsp:txXfrm>
    </dsp:sp>
    <dsp:sp modelId="{7B14FA3A-0D76-41D8-BD9C-71434E157459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CE098-41CA-42CC-BF2D-EC9937141367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F7C27-D915-445E-90D9-6BD8FFB76A5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Monitor Extreme Weather</a:t>
          </a:r>
          <a:r>
            <a:rPr lang="en-US" sz="2300" kern="1200"/>
            <a:t>: Establish robust monitoring systems and contingency plans to support farmers during adverse weather events.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A growing plant">
            <a:extLst>
              <a:ext uri="{FF2B5EF4-FFF2-40B4-BE49-F238E27FC236}">
                <a16:creationId xmlns:a16="http://schemas.microsoft.com/office/drawing/2014/main" id="{90384221-69D9-74CF-2D17-A9975034F5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667" r="-2" b="-2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5700">
                <a:solidFill>
                  <a:srgbClr val="FFFFFF"/>
                </a:solidFill>
                <a:ea typeface="+mj-lt"/>
                <a:cs typeface="+mj-lt"/>
              </a:rPr>
              <a:t>Assessing Climate Change Impacts on Global Agriculture: Past Trends and Future Mitigation Strategies</a:t>
            </a:r>
            <a:endParaRPr lang="en-US" sz="57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Sean McLean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ALY 6060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61EB-E69A-B35F-CD12-580BB705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4551036"/>
            <a:ext cx="4284420" cy="1687143"/>
          </a:xfrm>
        </p:spPr>
        <p:txBody>
          <a:bodyPr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Climate Change Impact: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 Focus on climate change’s effect on agriculture and mitigation efforts since 1990.</a:t>
            </a:r>
            <a:endParaRPr lang="en-US" sz="18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Key Agricultural Metrics: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 Evaluates irrigation, soil health, and fertilizer use on crop yields.</a:t>
            </a:r>
            <a:endParaRPr lang="en-US" sz="18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year and country&#10;&#10;Description automatically generated">
            <a:extLst>
              <a:ext uri="{FF2B5EF4-FFF2-40B4-BE49-F238E27FC236}">
                <a16:creationId xmlns:a16="http://schemas.microsoft.com/office/drawing/2014/main" id="{4591B32B-4E9F-AE96-0B26-6627C549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517"/>
          <a:stretch/>
        </p:blipFill>
        <p:spPr>
          <a:xfrm>
            <a:off x="1155556" y="637762"/>
            <a:ext cx="9889765" cy="357930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441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07F83B-99C0-1F4B-510E-346F41FD6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49" y="4750698"/>
            <a:ext cx="4310672" cy="14638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latin typeface="Aptos Display"/>
              </a:rPr>
              <a:t>Extreme Weather Heatmap:</a:t>
            </a:r>
            <a:r>
              <a:rPr lang="en-US" sz="1600" dirty="0">
                <a:latin typeface="Aptos Display"/>
              </a:rPr>
              <a:t> Shows inconsistent extreme weather events, especially in the last five years, due to global warming.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1600" b="1" dirty="0">
                <a:latin typeface="Aptos Display"/>
              </a:rPr>
              <a:t>Adaptation Needs:</a:t>
            </a:r>
            <a:r>
              <a:rPr lang="en-US" sz="1600" dirty="0">
                <a:latin typeface="Aptos Display"/>
              </a:rPr>
              <a:t> Countries must adapt, prioritize economic stability, and reduce emissions to combat future climate impacts.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9269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B87EF9-E110-D11B-0FE3-79008002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Total Crop Yield By Adaptation Strategies Per Country</a:t>
            </a: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328974F9-A3CB-D453-DA01-F0940AB95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840805"/>
            <a:ext cx="10843065" cy="2819196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15">
            <a:extLst>
              <a:ext uri="{FF2B5EF4-FFF2-40B4-BE49-F238E27FC236}">
                <a16:creationId xmlns:a16="http://schemas.microsoft.com/office/drawing/2014/main" id="{9C31BA05-B3C5-25D6-EEAE-D2C64081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Crop Yield Comparison: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Five bar charts show crop yield by adaptation strategies per country over 25 years.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Adaptation Strategies: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Countries used strategies like crop rotation, drought-resistant crops, and organic farming to adapt.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Country Highlights: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Canada led in drought-resistant crops, Nigeria in organic farming, and the U.S. in water management.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5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4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C13F42-70CF-00CD-0026-207360A2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945" y="4102613"/>
            <a:ext cx="10376789" cy="2048678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Economic Impact Over Time:</a:t>
            </a:r>
            <a: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The economic impact of climate change on agriculture has steadily increased, with spending rising by nearly $50 million from the start to 2015.</a:t>
            </a:r>
            <a:br>
              <a:rPr lang="en-US" sz="1800" kern="1200" dirty="0"/>
            </a:br>
            <a:endParaRPr lang="en-US" sz="1800" kern="120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Arial"/>
              <a:buChar char="•"/>
            </a:pP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Inconsistent Correlation:</a:t>
            </a:r>
            <a: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While both metrics fluctuate, no clear pattern links economic impact and temperature changes, except for a slight correlation since 2019 with cooler temperatures.</a:t>
            </a:r>
            <a:br>
              <a:rPr lang="en-US" sz="1800" kern="1200" dirty="0"/>
            </a:br>
            <a:endParaRPr lang="en-US" sz="1800" kern="120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Arial"/>
              <a:buChar char="•"/>
            </a:pPr>
            <a:r>
              <a:rPr lang="en-US" sz="1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Decade Breakdown:</a:t>
            </a:r>
            <a:r>
              <a:rPr lang="en-US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Economic impacts show more consistent fluctuations in the 1990s and 2010s, with the 2000s showing a more erratic trend.</a:t>
            </a:r>
            <a:endParaRPr lang="en-US" sz="1800" kern="1200" dirty="0">
              <a:solidFill>
                <a:schemeClr val="bg1"/>
              </a:solidFill>
              <a:latin typeface="+mj-lt"/>
            </a:endParaRPr>
          </a:p>
          <a:p>
            <a:endParaRPr lang="en-US" sz="1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B86AC01F-61D5-9AEF-3118-CD62EC1B8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29"/>
          <a:stretch/>
        </p:blipFill>
        <p:spPr>
          <a:xfrm>
            <a:off x="1315268" y="617779"/>
            <a:ext cx="9475247" cy="3265248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04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F0BA8808-CA3C-27D9-EA0A-08BBA36D9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27" r="-2" b="-2"/>
          <a:stretch/>
        </p:blipFill>
        <p:spPr>
          <a:xfrm>
            <a:off x="959205" y="421642"/>
            <a:ext cx="10369645" cy="375299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1EA0F1-4554-DA96-3EA9-9EADB4753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925" y="5107661"/>
            <a:ext cx="6586915" cy="155690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400" b="1" dirty="0">
                <a:ea typeface="+mn-lt"/>
                <a:cs typeface="+mn-lt"/>
              </a:rPr>
              <a:t>Economic Impact by Country:</a:t>
            </a:r>
            <a:r>
              <a:rPr lang="en-US" sz="1400" dirty="0">
                <a:ea typeface="+mn-lt"/>
                <a:cs typeface="+mn-lt"/>
              </a:rPr>
              <a:t> Despite global warming, each country has experienced relatively equal economic impact, with Nigeria leading in crop yield returns.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Future Economic Conditions:</a:t>
            </a:r>
            <a:r>
              <a:rPr lang="en-US" sz="1400" dirty="0">
                <a:ea typeface="+mn-lt"/>
                <a:cs typeface="+mn-lt"/>
              </a:rPr>
              <a:t> Economic outcomes in the future will depend on evolving climate patterns and their effects on individual crops.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Assessing Regional Trends:</a:t>
            </a:r>
            <a:r>
              <a:rPr lang="en-US" sz="1400" dirty="0">
                <a:ea typeface="+mn-lt"/>
                <a:cs typeface="+mn-lt"/>
              </a:rPr>
              <a:t> Evaluating neighboring countries could reveal insights, especially in areas where crop yields are below average.</a:t>
            </a:r>
            <a:endParaRPr lang="en-US" sz="1400" dirty="0"/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672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39507-BFC8-D1FE-B48C-A527089C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>
                <a:ea typeface="+mj-lt"/>
                <a:cs typeface="+mj-lt"/>
              </a:rPr>
              <a:t>Carbon Emissions Variability by Crop:</a:t>
            </a:r>
            <a:r>
              <a:rPr lang="en-US" sz="1800">
                <a:ea typeface="+mj-lt"/>
                <a:cs typeface="+mj-lt"/>
              </a:rPr>
              <a:t> Crops like corn and vegetables have wider ranges of carbon emissions, while coffee and cotton show smaller, more consistent emissions.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>
                <a:ea typeface="+mj-lt"/>
                <a:cs typeface="+mj-lt"/>
              </a:rPr>
              <a:t>Impact of Outliers:</a:t>
            </a:r>
            <a:r>
              <a:rPr lang="en-US" sz="1800">
                <a:ea typeface="+mj-lt"/>
                <a:cs typeface="+mj-lt"/>
              </a:rPr>
              <a:t> Certain crops, such as fruits and sugarcane, have outliers in carbon emissions, with some linked to recent years, possibly reflecting rising global temperatures.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>
                <a:ea typeface="+mj-lt"/>
                <a:cs typeface="+mj-lt"/>
              </a:rPr>
              <a:t>Future Emissions Trends:</a:t>
            </a:r>
            <a:r>
              <a:rPr lang="en-US" sz="1800">
                <a:ea typeface="+mj-lt"/>
                <a:cs typeface="+mj-lt"/>
              </a:rPr>
              <a:t> Carbon emissions from crop production will change depending on demand and production adjustments, with timing and location playing key roles in emission reduction.</a:t>
            </a:r>
            <a:endParaRPr lang="en-US" sz="1800"/>
          </a:p>
          <a:p>
            <a:endParaRPr lang="en-US" sz="1800" kern="1200">
              <a:latin typeface="+mj-lt"/>
            </a:endParaRP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graph&#10;&#10;Description automatically generated">
            <a:extLst>
              <a:ext uri="{FF2B5EF4-FFF2-40B4-BE49-F238E27FC236}">
                <a16:creationId xmlns:a16="http://schemas.microsoft.com/office/drawing/2014/main" id="{79E0DA8A-9900-B00C-4812-3B5A824F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94" y="1927891"/>
            <a:ext cx="7219546" cy="26570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697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DF57E-9326-DD57-76C9-FF499673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2046"/>
            <a:ext cx="10959176" cy="22391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 kern="1200" dirty="0">
                <a:latin typeface="+mj-lt"/>
                <a:ea typeface="+mj-ea"/>
                <a:cs typeface="+mj-cs"/>
              </a:rPr>
              <a:t>Irrigation Access Consistency:</a:t>
            </a:r>
            <a:r>
              <a:rPr lang="en-US" sz="1900" kern="1200" dirty="0">
                <a:latin typeface="+mj-lt"/>
                <a:ea typeface="+mj-ea"/>
                <a:cs typeface="+mj-cs"/>
              </a:rPr>
              <a:t> The five adaptation strategies show a consistent pattern over 25 years, with slight fluctuations, as seen in the line chart.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 b="1" kern="1200" dirty="0">
                <a:latin typeface="+mj-lt"/>
                <a:ea typeface="+mj-ea"/>
                <a:cs typeface="+mj-cs"/>
              </a:rPr>
              <a:t>Water Management Decline:</a:t>
            </a:r>
            <a:r>
              <a:rPr lang="en-US" sz="1900" kern="1200" dirty="0">
                <a:latin typeface="+mj-lt"/>
                <a:ea typeface="+mj-ea"/>
                <a:cs typeface="+mj-cs"/>
              </a:rPr>
              <a:t> Water management shows a decrease over time, indicating that water shortages have been a growing issue, prompting the need for more management practices.</a:t>
            </a:r>
            <a:endParaRPr lang="en-US" sz="1900" kern="1200" dirty="0">
              <a:latin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 kern="1200" dirty="0">
                <a:latin typeface="+mj-lt"/>
                <a:ea typeface="+mj-ea"/>
                <a:cs typeface="+mj-cs"/>
              </a:rPr>
              <a:t>Growth of Drought-Resistant Crops and Organic Farming:</a:t>
            </a:r>
            <a:r>
              <a:rPr lang="en-US" sz="1900" kern="1200" dirty="0">
                <a:latin typeface="+mj-lt"/>
                <a:ea typeface="+mj-ea"/>
                <a:cs typeface="+mj-cs"/>
              </a:rPr>
              <a:t> These strategies have seen slight increases over time, suggesting they are becoming more popular and effective in dealing with the declining access to irrigation.</a:t>
            </a:r>
            <a:endParaRPr lang="en-US" sz="1900" kern="1200" dirty="0">
              <a:latin typeface="+mj-lt"/>
            </a:endParaRPr>
          </a:p>
          <a:p>
            <a:pPr algn="ctr"/>
            <a:endParaRPr lang="en-US" sz="1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2" descr="A graph of growth and growth&#10;&#10;Description automatically generated">
            <a:extLst>
              <a:ext uri="{FF2B5EF4-FFF2-40B4-BE49-F238E27FC236}">
                <a16:creationId xmlns:a16="http://schemas.microsoft.com/office/drawing/2014/main" id="{25CDE6CF-DEEA-E85E-D544-9B0A18228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98" y="197225"/>
            <a:ext cx="10105803" cy="36886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83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F7201-F4D2-D5C4-11DB-7DEA88A5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542887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j-lt"/>
                <a:cs typeface="+mj-lt"/>
              </a:rPr>
              <a:t>Average Usage Visualization:</a:t>
            </a:r>
            <a:r>
              <a:rPr lang="en-US" sz="2000" dirty="0">
                <a:ea typeface="+mj-lt"/>
                <a:cs typeface="+mj-lt"/>
              </a:rPr>
              <a:t> A scatterplot was created to display average pesticide and fertilizer use per country, with values measured in kilograms per hectare.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j-lt"/>
                <a:cs typeface="+mj-lt"/>
              </a:rPr>
              <a:t>Russia and China Contrast:</a:t>
            </a:r>
            <a:r>
              <a:rPr lang="en-US" sz="2000" dirty="0">
                <a:ea typeface="+mj-lt"/>
                <a:cs typeface="+mj-lt"/>
              </a:rPr>
              <a:t> Russia uses the most fertilizer but the least pesticide, while China has the highest pesticide use and one of the lowest fertilizer uses.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j-lt"/>
                <a:cs typeface="+mj-lt"/>
              </a:rPr>
              <a:t>Argentina's High Usage:</a:t>
            </a:r>
            <a:r>
              <a:rPr lang="en-US" sz="2000" dirty="0">
                <a:ea typeface="+mj-lt"/>
                <a:cs typeface="+mj-lt"/>
              </a:rPr>
              <a:t> Argentina ranks among the highest for both pesticide and fertilizer use, with potential future changes based on regulations and the impact of climate change.</a:t>
            </a:r>
            <a:endParaRPr lang="en-US" sz="2000"/>
          </a:p>
          <a:p>
            <a:endParaRPr lang="en-US" sz="5400" dirty="0"/>
          </a:p>
        </p:txBody>
      </p:sp>
      <p:pic>
        <p:nvPicPr>
          <p:cNvPr id="4" name="Content Placeholder 3" descr="A graph of fertilizer&#10;&#10;Description automatically generated">
            <a:extLst>
              <a:ext uri="{FF2B5EF4-FFF2-40B4-BE49-F238E27FC236}">
                <a16:creationId xmlns:a16="http://schemas.microsoft.com/office/drawing/2014/main" id="{559D895D-53E1-A4A5-B4F8-A38DCD488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2003" y="1329283"/>
            <a:ext cx="4600575" cy="4581525"/>
          </a:xfrm>
          <a:ln>
            <a:solidFill>
              <a:schemeClr val="tx1"/>
            </a:solidFill>
          </a:ln>
        </p:spPr>
      </p:pic>
      <p:pic>
        <p:nvPicPr>
          <p:cNvPr id="5" name="Picture 4" descr="A group of colored squares with names&#10;&#10;Description automatically generated">
            <a:extLst>
              <a:ext uri="{FF2B5EF4-FFF2-40B4-BE49-F238E27FC236}">
                <a16:creationId xmlns:a16="http://schemas.microsoft.com/office/drawing/2014/main" id="{BA5A43DC-C3B2-2A9B-2DFF-7D300CFB7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826" y="1717970"/>
            <a:ext cx="20955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33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hart of crop type&#10;&#10;Description automatically generated">
            <a:extLst>
              <a:ext uri="{FF2B5EF4-FFF2-40B4-BE49-F238E27FC236}">
                <a16:creationId xmlns:a16="http://schemas.microsoft.com/office/drawing/2014/main" id="{E58507DD-6352-BD56-A1C8-9832B78C2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59" y="2160411"/>
            <a:ext cx="6984299" cy="2631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0DFC7-BB56-3031-D08B-432EEA856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814" y="818707"/>
            <a:ext cx="3131288" cy="531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rgbClr val="595959"/>
                </a:solidFill>
                <a:ea typeface="+mn-lt"/>
                <a:cs typeface="+mn-lt"/>
              </a:rPr>
              <a:t>The total soil health index by crop type for each country is evaluated with the creation of a bar chart, which shows scores ranging between 0 and 100.</a:t>
            </a:r>
            <a:endParaRPr lang="en-US" sz="1800" dirty="0">
              <a:solidFill>
                <a:srgbClr val="595959"/>
              </a:solidFill>
            </a:endParaRPr>
          </a:p>
          <a:p>
            <a:r>
              <a:rPr lang="en-US" sz="1800" dirty="0">
                <a:solidFill>
                  <a:srgbClr val="595959"/>
                </a:solidFill>
                <a:ea typeface="+mn-lt"/>
                <a:cs typeface="+mn-lt"/>
              </a:rPr>
              <a:t>Wheat has the highest soil health index score among crops, followed by cotton and vegetables. And coffee has the lowest score across all nations.</a:t>
            </a:r>
            <a:endParaRPr lang="en-US" sz="1800" dirty="0">
              <a:solidFill>
                <a:srgbClr val="595959"/>
              </a:solidFill>
            </a:endParaRPr>
          </a:p>
          <a:p>
            <a:r>
              <a:rPr lang="en-US" sz="1800" dirty="0">
                <a:solidFill>
                  <a:srgbClr val="595959"/>
                </a:solidFill>
                <a:ea typeface="+mn-lt"/>
                <a:cs typeface="+mn-lt"/>
              </a:rPr>
              <a:t>Future changes in soil health index scores may be influenced by factors such as land management practices, groundwater levels, and pesticide use.</a:t>
            </a:r>
            <a:endParaRPr lang="en-US" sz="1800" dirty="0">
              <a:solidFill>
                <a:srgbClr val="595959"/>
              </a:solidFill>
            </a:endParaRPr>
          </a:p>
          <a:p>
            <a:endParaRPr lang="en-US" sz="17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57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D54F4-D3B7-4D99-CD07-0AD56670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Conclusion/Recommendations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FF22F2-C1DD-9BEA-A8DB-37007438A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9179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470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Assessing Climate Change Impacts on Global Agriculture: Past Trends and Future Mitigation Strategies</vt:lpstr>
      <vt:lpstr>Climate Change Impact: Focus on climate change’s effect on agriculture and mitigation efforts since 1990. Key Agricultural Metrics: Evaluates irrigation, soil health, and fertilizer use on crop yields.  </vt:lpstr>
      <vt:lpstr>Total Crop Yield By Adaptation Strategies Per Country</vt:lpstr>
      <vt:lpstr>Economic Impact Over Time: The economic impact of climate change on agriculture has steadily increased, with spending rising by nearly $50 million from the start to 2015.  Inconsistent Correlation: While both metrics fluctuate, no clear pattern links economic impact and temperature changes, except for a slight correlation since 2019 with cooler temperatures.  Decade Breakdown: Economic impacts show more consistent fluctuations in the 1990s and 2010s, with the 2000s showing a more erratic trend. </vt:lpstr>
      <vt:lpstr>PowerPoint Presentation</vt:lpstr>
      <vt:lpstr>Carbon Emissions Variability by Crop: Crops like corn and vegetables have wider ranges of carbon emissions, while coffee and cotton show smaller, more consistent emissions. Impact of Outliers: Certain crops, such as fruits and sugarcane, have outliers in carbon emissions, with some linked to recent years, possibly reflecting rising global temperatures. Future Emissions Trends: Carbon emissions from crop production will change depending on demand and production adjustments, with timing and location playing key roles in emission reduction. </vt:lpstr>
      <vt:lpstr>Irrigation Access Consistency: The five adaptation strategies show a consistent pattern over 25 years, with slight fluctuations, as seen in the line chart. Water Management Decline: Water management shows a decrease over time, indicating that water shortages have been a growing issue, prompting the need for more management practices. Growth of Drought-Resistant Crops and Organic Farming: These strategies have seen slight increases over time, suggesting they are becoming more popular and effective in dealing with the declining access to irrigation. </vt:lpstr>
      <vt:lpstr>Average Usage Visualization: A scatterplot was created to display average pesticide and fertilizer use per country, with values measured in kilograms per hectare. Russia and China Contrast: Russia uses the most fertilizer but the least pesticide, while China has the highest pesticide use and one of the lowest fertilizer uses. Argentina's High Usage: Argentina ranks among the highest for both pesticide and fertilizer use, with potential future changes based on regulations and the impact of climate change. </vt:lpstr>
      <vt:lpstr>PowerPoint Presentation</vt:lpstr>
      <vt:lpstr>Conclusion/Recommendations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201</cp:revision>
  <dcterms:created xsi:type="dcterms:W3CDTF">2024-10-22T22:01:39Z</dcterms:created>
  <dcterms:modified xsi:type="dcterms:W3CDTF">2024-10-25T23:41:05Z</dcterms:modified>
</cp:coreProperties>
</file>